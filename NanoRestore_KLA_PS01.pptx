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KLA AI HACKATHON 2026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AI-Based Restoration of Degraded Images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Team NanoRestore | Vellore Institute of Technology - Chennai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31B2E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Deenadayalan.B  [CAPTAIN]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Role: Team Lead &amp; AI Architecture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Email: deenadayalanb20081030@gmail.com  |  Phone: +91 7667407910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Key Focus: NAFNetSR backbone, SimpleGate &amp; SCA design, end-to-end model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31B2E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Mohamed Faiz.Y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Role: Metrology Loss &amp; Optimization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Email: mf5079549@gmail.com  |  Phone: +91 9629180309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Key Focus: Composite Metrology Loss (L1 + SSIM + 2D FFT) and sub-0.8nm LER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31B2E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Jai Ganesh.V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Role: GPU Acceleration &amp; Benchmark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Email: vjaiganesh143@gmail.com  |  Phone: +91 8072604508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Key Focus: NVIDIA H100 Tensor Core inference, mixed precision, and async I/O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31B2E"/>
          </a:solidFill>
          <a:ln>
            <a:solidFill>
              <a:srgbClr val="28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Rohita.K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Role: Data Pipeline &amp; Web Platform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Email: rohita.k2421@gmail.com  |  Phone: +91 7550068135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Key Focus: 10,000+ synthetic wafer dataset generator, raw .NPY parser &amp; web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AI-Based Restoration of Degraded Images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Physical Degradation Mechanisms in Semiconductor Metrology &amp; Defect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1. Multiplicative Speckle Noise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Coherent laser illumination in optical wafer inspection causes constructive &amp; destructive wave interference (Gamma/Rayleigh noise).</a:t>
            </a:r>
            <a:br/>
            <a:br/>
            <a:r>
              <a:t>Key Physical Phenomenon: Speckle causes unclipped intensity peaks to exceed standard ground truth bounds (&gt; 1.0, up to 1.6+). Naive clipping ruins restoration fidelity.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2. Gaussian Sensor &amp; Thermal Noise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High-speed line-scan sensors and low-dose e-beam inspection introduce Gaussian thermal noise and Poisson electron shot noise.</a:t>
            </a:r>
            <a:br/>
            <a:br/>
            <a:r>
              <a:t>Industrial Impact: Mask critical nano-scale defect signatures (bridging, open vias, dendrite crystal growth) on 3nm/5nm logic and 3D NAND memory dies.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2x Spatial Resolution Loss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Optical point spread functions (PSF) and high-throughput scanning hardware result in downsampled low-resolution captures (128x128 &amp; 256x256).</a:t>
            </a:r>
            <a:br/>
            <a:br/>
            <a:r>
              <a:t>Goal: Jointly perform speckle denoising and 2x super-resolution (128-&gt;256 &amp; 256-&gt;512) while preserving critical line-edge roughness (dLER &lt; 0.8nm).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Idea Description: NAFNetSR Metrology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Nonlinear Activation Free Super-Resolution &amp; Joint Speckle Denoising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Why NAFNetSR for Semiconductor Fabs?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 Nonlinear Activation Free (NAF): Replaces heavy GELU/ReLU with simple element-wise multiplication (SimpleGate: x1 * x2), eliminating compute overhead and maximizing GPU Tensor Core arithmetic intensity.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Simplified Channel Attention (SCA): Captures global wafer pattern correlations without quadratic Softmax attention maps (AdaptiveAvgPool + 1x1 Conv).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 Multi-Scale U-Net Topology: Preserves sub-micron edge gradients across 3 encoder-decoder stages with skip connections.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4. 2x PixelShuffle Head: Sub-pixel convolution reconstructs high-frequency details (128-&gt;256 &amp; 256-&gt;512) with zero checkerboard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Joint Tri-Modal Degradation Handling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Unclipped Speckle Pipeline: Processes unclipped raw float intensities (&gt; 1.0) and strictly clamps restored predictions to [0.0, 1.0] only at the output layer.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High-Frequency Fourier Supervision: Uses 2D Fast Fourier Transform (FFT) loss to prevent oversmoothing on periodic lithography lines.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Dynamic Resolution Immunity: Auto-pads arbitrary dimensions to multiples of 8 via reflection padding, guaranteeing zero tensor shape mismatch crashes.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Universal Data Support: Natively reads and writes raw float32 .npy arrays and standard 8-bit PNGs.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Solution: End-to-End Metrology Restoration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Model Architecture, Composite Metrology Loss &amp; On-The-Fly Augmentation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A. Synthetic Degradation Pipeline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Multiplicative Gamma Speckle: eta ~ Gamma(k=10, theta=0.1)</a:t>
            </a:r>
            <a:br/>
            <a:r>
              <a:t>• Additive Gaussian Thermal Noise: sigma in [0.01, 0.03]</a:t>
            </a:r>
            <a:br/>
            <a:r>
              <a:t>• Poisson Electron Shot Noise: peak in [80, 200]</a:t>
            </a:r>
            <a:br/>
            <a:r>
              <a:t>• 2x Bicubic Spatial Downsampling (512-&gt;256 &amp; 256-&gt;128)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B. NAFNetSR Architecture &amp; Head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Input Layer: Dynamic channel adaptation (Grayscale/RGB) + Reflection Pad</a:t>
            </a:r>
            <a:br/>
            <a:r>
              <a:t>• Encoder-Decoder: 4 Stages [c=32, 64, 128, 256] with SimpleGate + SCA</a:t>
            </a:r>
            <a:br/>
            <a:r>
              <a:t>• Residual Skip Connections: Direct gradient propagation</a:t>
            </a:r>
            <a:br/>
            <a:r>
              <a:t>• Upsampler: 1x1 Conv + PixelShuffle(scale=2) + Dynamic Unpad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C. Composite Metrology Loss (Sub-0.8nm LER)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L_total = L_L1 + 0.5 * L_SSIM + 0.05 * L_FFT</a:t>
            </a:r>
            <a:br/>
            <a:r>
              <a:t>• L_L1 (Charbonnier): Robust pixel fidelity against speckle outliers</a:t>
            </a:r>
            <a:br/>
            <a:r>
              <a:t>• L_SSIM: Structural similarity and local pattern contrast</a:t>
            </a:r>
            <a:br/>
            <a:r>
              <a:t>• L_FFT: Frequency-domain 2D Fourier loss for sharp edge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Innovation &amp; Uniqueness: What Sets Our Solution Apart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Engineering Breakthroughs for Real-World Fab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[01]  Pure Floating-Point Dynamic Range Physics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Correctly handles laser speckle intensities exceeding 1.0 without premature clipping, preserving true constructive interference dynamics.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031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[02]  Ultra-High H100 GPU Throughput (~15,789 Tiles/Min)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Engineered with torch.inference_mode, mixed precision (FP16/BF16), and multi-threaded async disk I/O, achieving 3.8ms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[03]  Universal 8-Modality Semiconductor Coverage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10,000+ sample suite covering Logic FinFET (3nm), 3D NAND, DRAM, TSVs, EUV Gratings, CMP Scratches, SEM Dendrites, and OOD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[04]  Live Interactive Web Studio with Pure JS .NPY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Zero-backend browser platform with custom DataView binary .NPY parser, real-time split-wipe viewer, and residual error heatmap.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Results: Quantitative 10,000-Wafer Multi-Model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Rigorous Performance Validation on NVIDIA H100 Tensor Core GPU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10,000-Wafer Tile Multi-Model Metrology Benchmark (NVIDIA H100 SXM5)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Model Architecture            | PSNR (dB) | SSIM   | dLER (nm) | Latency | Throughput | Fab Tiles/Min | VRAM</a:t>
            </a:r>
            <a:br/>
            <a:r>
              <a:t>--------------------------------------------------------------------------------------------------------</a:t>
            </a:r>
            <a:br/>
            <a:r>
              <a:t>★ NAFNet-Metrology (Ours)    | 20.99 dB  | 0.8322 | &lt; 0.29 nm | 3.8 ms  | 263.2 FPS  | ~15,789/min   | &lt; 2.4 GB</a:t>
            </a:r>
            <a:br/>
            <a:r>
              <a:t>  Restormer-Lite (Transformer)| 20.87 dB  | 0.8278 |   0.28 nm | 7.4 ms  | 135.1 FPS  | ~ 8,108/min   |   4.6 GB</a:t>
            </a:r>
            <a:br/>
            <a:r>
              <a:t>  SwinIR-Metrology (Swin-T)   | 20.80 dB  | 0.8252 |   0.28 nm | 9.1 ms  | 109.9 FPS  | ~ 6,593/min   |   5.8 GB</a:t>
            </a:r>
            <a:br/>
            <a:r>
              <a:t>  UNet-Baseline (Standard)    | 20.40 dB  | 0.8141 |   0.28 nm | 4.5 ms  | 222.2 FPS  | ~13,333/min   |   2.8 GB</a:t>
            </a:r>
            <a:br/>
            <a:br/>
            <a:r>
              <a:t>Key Quantitative Takeaways:</a:t>
            </a:r>
            <a:br/>
            <a:r>
              <a:t>• NAFNet-Metrology achieves the highest PSNR &amp; SSIM with 2x faster throughput than Vision Transformers.</a:t>
            </a:r>
            <a:br/>
            <a:r>
              <a:t>• Preserves critical dimension line-edge roughness with dLER &lt; 0.29 nm (Target: &lt; 0.8 nm).</a:t>
            </a:r>
            <a:br/>
            <a:r>
              <a:t>• Multi-modal test sets across all 8 semiconductor industries restored with 100% success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 &amp; Industrial Fab Feasibility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Software Architecture, Computational Footprint &amp; Deployment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Software Framework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PyTorch 2.2+, TorchScript / CUDA Graph, Python 3.11, NumPy, OpenCV, PIL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Target Hardware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NVIDIA H100 (80GB SXM5) / RTX 4090 / Cloud Tensor 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Model Footprint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1.2 Million Parameters (~4.8 MB Checkpoint), Peak VRAM &lt; 2.4 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01752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Training Efficiency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~25 minutes for 50 epochs on H100 with Mixed Precision (BF16/FP16)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Inference Latency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3.8 ms / tile (~263 FPS) -&gt; ~15,789 Wafer Reticle Tiles /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663440"/>
            <a:ext cx="5120640" cy="141732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Zero-Downtime Fallback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Integrated high-speed Vectorized NumPy engine for pure CPU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GitHub Repository &amp; Interactive Metrology Platform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Reproducibility &amp; Interactive Review Links for KLA Judges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Official Public GitHub Repository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Repository URL:</a:t>
            </a:r>
            <a:br/>
            <a:r>
              <a:t>https://github.com/deenadayalanb20081030-cloud/KLA-AI-Image-Restoration</a:t>
            </a:r>
            <a:br/>
            <a:br/>
            <a:r>
              <a:t>Includes All Mandatory Submission Components:</a:t>
            </a:r>
            <a:br/>
            <a:r>
              <a:t>✓ run.py (Official Entrypoint: python run.py &lt;input-dir&gt; &lt;output-dir&gt;)</a:t>
            </a:r>
            <a:br/>
            <a:r>
              <a:t>✓ README.md (Comprehensive setup &amp; 1-line reproduction guide)</a:t>
            </a:r>
            <a:br/>
            <a:r>
              <a:t>✓ models/best_model_weights.pt (Trained PyTorch model in models/)</a:t>
            </a:r>
            <a:br/>
            <a:r>
              <a:t>✓ requirements.txt (Pinned dependencies with versions)</a:t>
            </a:r>
            <a:br/>
            <a:r>
              <a:t>✓ outputs/ (1,000+ restored full-res .npy arrays &amp; PNGs)</a:t>
            </a:r>
            <a:br/>
            <a:r>
              <a:t>✓ convert_npy_to_png.py (Standalone .NPY visualizer for evaluators)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Live Interactive Metrology Studio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Live Demo URL:</a:t>
            </a:r>
            <a:br/>
            <a:r>
              <a:t>https://deenadayalanb20081030-cloud.github.io/KLA-AI-Image-Restoration/</a:t>
            </a:r>
            <a:br/>
            <a:br/>
            <a:r>
              <a:t>Interactive Features for Reviewers:</a:t>
            </a:r>
            <a:br/>
            <a:r>
              <a:t>✓ Real-time interactive Wipe Split-Slider (512x512)</a:t>
            </a:r>
            <a:br/>
            <a:r>
              <a:t>✓ 3-Way Grid comparison (Ground Truth vs NoisyLR vs Restored)</a:t>
            </a:r>
            <a:br/>
            <a:r>
              <a:t>✓ Residual Error Heatmap with sub-pixel delta probe</a:t>
            </a:r>
            <a:br/>
            <a:r>
              <a:t>✓ Pure JavaScript Binary .NPY Array Parser &amp; Exporter</a:t>
            </a:r>
            <a:br/>
            <a:r>
              <a:t>✓ 8 Semiconductor Fab Modality Selectors</a:t>
            </a:r>
            <a:br/>
            <a:r>
              <a:t>✓ Real-time Loss Function &amp; Pareto Frontier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0F23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SLIDE 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References &amp; Scientific Citations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Academic Literature, Metrology Standards &amp; Computational Baselines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31B2E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Academic Papers &amp; Industrial Standards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Chen, L., Chu, X., Zhang, X., &amp; Sun, J. (2022). Simple Baselines for Image Restoration (NAFNet).</a:t>
            </a:r>
            <a:br/>
            <a:r>
              <a:t>   European Conference on Computer Vision (ECCV 2022).</a:t>
            </a:r>
            <a:br/>
            <a:br/>
            <a:r>
              <a:t>2. Zamir, S. W., Arora, A., Khan, S., Hayat, M., Khan, F. S., &amp; Yang, M. H. (2022). Restormer: Efficient Transformer for High-Resolution Image Restoration.</a:t>
            </a:r>
            <a:br/>
            <a:r>
              <a:t>   IEEE/CVF Conference on Computer Vision and Pattern Recognition (CVPR 2022).</a:t>
            </a:r>
            <a:br/>
            <a:br/>
            <a:r>
              <a:t>3. Liang, J., Cao, J., Sun, G., Zhang, K., Van Gool, L., &amp; Timofte, R. (2021). SwinIR: Image Restoration Using Swin Transformer.</a:t>
            </a:r>
            <a:br/>
            <a:r>
              <a:t>   IEEE/CVF International Conference on Computer Vision Workshops (ICCVW 2021).</a:t>
            </a:r>
            <a:br/>
            <a:br/>
            <a:r>
              <a:t>4. Goodman, J. W. (2007). Speckle Phenomena in Optics: Theory and Applications.</a:t>
            </a:r>
            <a:br/>
            <a:r>
              <a:t>   Roberts &amp; Company Publishers. (Coherent laser speckle physics in optical wafer metrology).</a:t>
            </a:r>
            <a:br/>
            <a:br/>
            <a:r>
              <a:t>5. SEMI Metrology Standards (2024). Standard Guide for Scanning Electron Microscope Defect Review and Critical Dimension (CD-SEM) Inspection in Semiconductor Manufacturing.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